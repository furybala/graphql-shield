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latency (ms)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E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Without gateway</c:v>
                  </c:pt>
                  <c:pt idx="1">
                    <c:v>With gateway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9.276</c:v>
                </c:pt>
                <c:pt idx="1">
                  <c:v>26.26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E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E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Introduce the project: an evidence-grounded security gateway that combines schema-aware static analysis with runtime authorization evidence to block BOLA at the edge while providing exact AST path attribution.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Motivate: BOLA is the top API risk; GraphQL's flexibility and nested traversal make centralized enforcement hard. That's the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objectives: intercept, understand the query, understand ownership, fail closed, score+audit, and enforce tenant integrity.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gateway is a FastAPI dependency that runs before the GraphQL route. Ten stages, fully fail-closed with tenant identity integrity.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schema publishes ownership as fields. We infer and validate those relationships once at startup, keep explicit rules on top, and fail closed when nothing explains ownership.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Policy produces a decision and machine-readable reason; risk engine computes score band. Direct BOLA -&gt; 80, nested BOLA -&gt; 100, tenant violation -&gt; 80.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Denied requests never reach the backend — the resolver is the expensive, risky part and we short-circuit before it. Every decision is persisted.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PRIMARY contribution: combines schema-aware static analysis with runtime authorization evidence. 105 valid cases denominator; 95 exact canonical matches (90.5%) and 10 nested formatting differences, achieving 100% semantic path attribution with 0 incorrect and 0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Secondary novelty. Four behavioural signals, adaptively baselined, combined into an explainable 0-100 score. Advisory only — flags for humans, never alters enforcement.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gateway traffic, isolated DB. Static detects direct BOLA burst only; adaptive detects mass enumeration too, with zero false positives.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benchmark: 500 legit + 500 BOLA per endpoint. 100% block, 0% false positives, ~15-17 ms overhead. Acceptable for prototype; reducible with Redis.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screenshot of /dashboard after live traffic: legit access, direct and nested BOLA, forged token, and the anomaly burst.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299 automated tests cover every module. 0 failures across 28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Strict academic honesty: we separate implemented capabilities, empirical findings, and proposed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four headline metrics and verified technical defensibility.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1463040" cy="1463040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3716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651760" y="132588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GraphQL Shield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2697480" y="228600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Schema-Aware Security Gateway for Preventing GraphQL BOLA Vulnerabilities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5029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Agnihotram Chinmayanand (RA2311053010116)   ·   B.V. Balanilavan (RA2311053010123)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Kapilesh.N (RA2311053010125)   ·   Sakthivel.B (RA2311053010126)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57607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Communication and Network Security  ·  Faculty Viva &amp; Technical Defense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Broken Object Level Authorization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BOLA / IDOR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API accepts an object identifier from the client and returns the object without checking that the caller may access THAT object.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changes id=101 to id=102 and reads someone else's data.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#1 in the OWASP API Security Top 10.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Prevalent, high-impact, and entirely avoidable.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16324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20116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GraphQL amplifies it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3680" y="256032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endpoint fronts every resource — a huge, discoverable attack surface.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Resolvers traverse the query graph depth-first; auth is easy to forget per field.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are reachable through many nested paths and field aliases.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built-in notion of 'the caller's right to THIS object'.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Shield — CCNS Capstone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gateway must do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8483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848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95681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28600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unauthorized object access at the edge, before any resolver executes.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8483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0848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69480" y="195681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query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69480" y="228600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every object type and id from the AST — nested, aliased, variable and fragment based.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15468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41071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41071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328269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ownership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361188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ownership from authoritative data, validated against schema-inferred relationships.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315468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341071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41071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69480" y="328269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closed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69480" y="361188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ownership cannot be explained by a rule or tenant context is missing, deny.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48056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473659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73659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600200" y="460857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and audit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600200" y="493776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0-100 risk per decision, persisted for review.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09360" y="448056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92240" y="473659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473659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69480" y="460857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integrity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269480" y="493776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tenant from validated JWT; reject client header spoofing.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Shield — CCNS Capstone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gateway, ten fail-closed stages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84832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084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303580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-&gt; user, role, tenant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71216" y="192024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35808" y="2084832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35808" y="2084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08376" y="26974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Guard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008376" y="303580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X-Tenant spoofing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02352" y="192024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66944" y="2084832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66944" y="2084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39512" y="26974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check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239512" y="303580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15 / cost 150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33488" y="192024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0" y="2084832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2084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70648" y="26974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Taint analysis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70648" y="303580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audit-only, fail-safe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564624" y="192024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729216" y="2084832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29216" y="2084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701784" y="26974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extract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701784" y="303580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(type, id, path, alias)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393192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16324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4672" y="4096512"/>
            <a:ext cx="548640" cy="5486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" y="4096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7240" y="47091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77240" y="504748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lookup + schema rule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871216" y="393192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16324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035808" y="4096512"/>
            <a:ext cx="548640" cy="5486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5808" y="4096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008376" y="47091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3008376" y="504748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/ DENY + reason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102352" y="393192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16324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266944" y="4096512"/>
            <a:ext cx="548640" cy="5486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66944" y="4096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239512" y="47091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5239512" y="504748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0-100, low/med/high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333488" y="393192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16324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498080" y="4096512"/>
            <a:ext cx="548640" cy="5486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98080" y="4096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470648" y="47091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7470648" y="504748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SQLite row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9564624" y="393192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16324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9729216" y="4096512"/>
            <a:ext cx="548640" cy="5486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729216" y="4096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9701784" y="47091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9701784" y="504748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run / DENY 403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subsystems (read audit stream, cannot change a decision): differential-testing  ·  adaptive anomaly engine  ·  research evaluator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Shield — CCNS Capstone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Ownership inferred from the schema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schema already describes ownership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4663440" cy="2011680"/>
          </a:xfrm>
          <a:prstGeom prst="rect">
            <a:avLst/>
          </a:prstGeom>
          <a:solidFill>
            <a:srgbClr val="0E1B2A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User {
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0E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id: ID!
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0E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resources: [Resource]
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0E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Resource {
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0E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id: ID!
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0E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owner_id: ID!
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0E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48463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names (ownerId -&gt; owner_id) and type names (Resource = ResourceType) are normalized so query and schema line up.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0116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Validated, explainable patterns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256032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object reference: Resource.owner: User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collection: User.resources: [Resource]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scalar id: Resource.ownerId: ID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nested chains of A/B/C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driven by configurable naming list (owner, user_id, created_by, ...).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matches (createdBy: String) are rejected, not guessed.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explicit rule &gt; inferred rule &gt; UNKNOWN_OWNERSHIP (deny).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Shield — CCNS Capstone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engine and deterministic risk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evaluation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AuthorizationContext: user, tenant, role, type, id, path, owner.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OWNER_MATCH -&gt; ALLOW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OWNERSHIP_MISMATCH -&gt; DENY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NESTED_AUTHORIZATION_VIOLATION -&gt; DENY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TENANT_ISOLATION_VIOLATION -&gt; DENY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TENANT_CONTEXT_MISSING -&gt; DENY (fail closed)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SUPERADMIN_CROSS_TENANT_OVERRIDE -&gt; ALLOW (audited)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16324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20116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 (0-100)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56032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+80  ownership / authorization / tenant violation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 nested access (path contains '.')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 &gt;=1 DENY in the last 10 minutes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at 100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band: LOW &lt; 30 | MEDIUM &lt; 60 | HIGH &gt;= 60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auditable — no black-box ML in the enforcement path.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Shield — CCNS Capstone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at the edge, audit everything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/ execute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passes to the Strawberry GraphQL engine. The resolver runs only for authorized objects.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DECE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148840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2926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/ drop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338328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403 with decision, user, object, reason, risk score and level. The backend is never invoked.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92024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16324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148840"/>
            <a:ext cx="640080" cy="6400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21040" y="2926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every decision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21040" y="338328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decision context written to SQLite audit_logs. Enforcement never depends on audit success.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Shield — CCNS Capstone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CONTRIBUTION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Static-Runtime Evidence Correlation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115-case benchmark (105 valid: 52 vulnerable / 53 benign, 10 malformed).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3774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Gateway Alone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/ 0.0%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false-alarm 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56.2% exact (65.7% semantic)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98264" y="219456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81144" y="23774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Static Taint Alone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81144" y="278892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54.7% / 81.1%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581144" y="34290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false-alarm rate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81144" y="39319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90.5% exact (100% semantic)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56448" y="219456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39328" y="23774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Correlated (Ours)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39328" y="278892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/ 0.0%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8339328" y="34290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false-alarm rate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39328" y="39319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90.5% exact (100% semantic)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Correlating AST taint findings with runtime evidence eliminates the 81.1% static false-alarm rate on benign owner requests and achieves 90.5% exact canonical match (95/105) and 100.0% semantic target attribution (0 incorrect, 0 missing) — with zero policy divergence.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Shield — CCNS Capstone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NOVELTY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behavioural anomaly detection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Per-event scoring has no principal-level memory. It cannot see a fully-authorized account enumerating every record it can reach, or a low-and-slow scan hiding between ordinary reads.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6324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deny_ratio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4672" y="31546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requests denied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29000" y="26060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6324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93592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target_breadth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593592" y="31546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object ids touched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26060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6324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82512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velocity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82512" y="31546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per minute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06840" y="26060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6324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71432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deny_trend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171432" y="31546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vs earlier denial escalation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343400"/>
            <a:ext cx="10881360" cy="1600200"/>
          </a:xfrm>
          <a:prstGeom prst="roundRect">
            <a:avLst>
              <a:gd name="adj" fmla="val 4571"/>
            </a:avLst>
          </a:prstGeom>
          <a:solidFill>
            <a:srgbClr val="1229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448056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Two adaptive mechanisms: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a robust median/MAD peer-relative z-score that moves with observed traffic, and a temporal drift term against the principal's own history. </a:t>
            </a:r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Score = 0.6 x weighted-mean + 0.4 x peak.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Strictly advisory — it never changes an enforcement decision.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Shield — CCNS Capstone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- SECONDARY NOVELTY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50% -&gt; adaptive 100% detection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822960"/>
                <a:gridCol w="1097280"/>
                <a:gridCol w="1005840"/>
                <a:gridCol w="1188720"/>
                <a:gridCol w="1188720"/>
                <a:gridCol w="35661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Principal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Truth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Static risk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Static?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Adaptive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Level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Pattern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1B2A"/>
                          </a:solidFill>
                        </a:rPr>
                        <a:t>101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1B2A"/>
                          </a:solidFill>
                        </a:rPr>
                        <a:t>benign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1B2A"/>
                          </a:solidFill>
                        </a:rPr>
                        <a:t>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1B2A"/>
                          </a:solidFill>
                        </a:rPr>
                        <a:t>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1B2A"/>
                          </a:solidFill>
                        </a:rPr>
                        <a:t>no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1B2A"/>
                          </a:solidFill>
                        </a:rPr>
                        <a:t>34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1B2A"/>
                          </a:solidFill>
                        </a:rPr>
                        <a:t>MEDIUM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1B2A"/>
                          </a:solidFill>
                        </a:rPr>
                        <a:t>NO_PATTERN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1B2A"/>
                          </a:solidFill>
                        </a:rPr>
                        <a:t>102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1B2A"/>
                          </a:solidFill>
                        </a:rPr>
                        <a:t>attack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1B2A"/>
                          </a:solidFill>
                        </a:rPr>
                        <a:t>15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1B2A"/>
                          </a:solidFill>
                        </a:rPr>
                        <a:t>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1B2A"/>
                          </a:solidFill>
                        </a:rPr>
                        <a:t>no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1B2A"/>
                          </a:solidFill>
                        </a:rPr>
                        <a:t>65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1B2A"/>
                          </a:solidFill>
                        </a:rPr>
                        <a:t>HIGH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1B2A"/>
                          </a:solidFill>
                        </a:rPr>
                        <a:t>HIGH_VELOCITY_ENUMERATION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1B2A"/>
                          </a:solidFill>
                        </a:rPr>
                        <a:t>103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1B2A"/>
                          </a:solidFill>
                        </a:rPr>
                        <a:t>benign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1B2A"/>
                          </a:solidFill>
                        </a:rPr>
                        <a:t>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1B2A"/>
                          </a:solidFill>
                        </a:rPr>
                        <a:t>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1B2A"/>
                          </a:solidFill>
                        </a:rPr>
                        <a:t>no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1B2A"/>
                          </a:solidFill>
                        </a:rPr>
                        <a:t>25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1B2A"/>
                          </a:solidFill>
                        </a:rPr>
                        <a:t>LOW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1B2A"/>
                          </a:solidFill>
                        </a:rPr>
                        <a:t>NO_PATTERN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1B2A"/>
                          </a:solidFill>
                        </a:rPr>
                        <a:t>104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1B2A"/>
                          </a:solidFill>
                        </a:rPr>
                        <a:t>attack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1B2A"/>
                          </a:solidFill>
                        </a:rPr>
                        <a:t>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1B2A"/>
                          </a:solidFill>
                        </a:rPr>
                        <a:t>90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1B2A"/>
                          </a:solidFill>
                        </a:rPr>
                        <a:t>yes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1B2A"/>
                          </a:solidFill>
                        </a:rPr>
                        <a:t>80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1B2A"/>
                          </a:solidFill>
                        </a:rPr>
                        <a:t>HIGH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E1B2A"/>
                          </a:solidFill>
                        </a:rPr>
                        <a:t>SUSTAINED_AUTHORIZATION_ABUSE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16052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4297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34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50.0%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68680" y="49834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per-event baseline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misses mass authorized enumeration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309360" y="416052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37960" y="42976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100.0%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6537960" y="49834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engine — both attacks caught, both benign users clean. 0% false positives.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Shield — CCNS Capstone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- PERFORMANCE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Efficacy and overhead, measured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74720" cy="3931920"/>
          </a:xfrm>
          <a:prstGeom prst="roundRect">
            <a:avLst>
              <a:gd name="adj" fmla="val 210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68680" y="30175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 attempts blocked by the secured gateway.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9319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68680" y="48463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on 500 legitimate requests.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7178040" cy="3931920"/>
          </a:xfrm>
          <a:prstGeom prst="roundRect">
            <a:avLst>
              <a:gd name="adj" fmla="val 186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2011680"/>
            <a:ext cx="6720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(2,000 requests)</a:t>
            </a:r>
            <a:endParaRPr lang="en-US" sz="16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572000" y="2514600"/>
          <a:ext cx="67208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4572000" y="553212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decision overhead: ~15-17 ms per request (AST parse + cached ownership + policy).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Shield — CCNS Capstone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dashboard from real traffic</a:t>
            </a:r>
            <a:endParaRPr lang="en-US" sz="3400" dirty="0"/>
          </a:p>
        </p:txBody>
      </p:sp>
      <p:pic>
        <p:nvPicPr>
          <p:cNvPr id="4" name="Image 0" descr="C:\Users\balan\Downloads\CCNS Project\docs\screenshots\dashboard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6766560" cy="45079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1828800"/>
            <a:ext cx="3840480" cy="3931920"/>
          </a:xfrm>
          <a:prstGeom prst="roundRect">
            <a:avLst>
              <a:gd name="adj" fmla="val 190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863840" y="2011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from the running gateway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0" y="2514600"/>
            <a:ext cx="35204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audit counters: events, allowed, blocked, BOLA.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+ last-update indicators.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decisions table with reason and risk.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anomaly panel per principal.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genuine requests, not simulated data.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Shield — CCNS Capstone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299 automated tests, all passing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16324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57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299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68680" y="3063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/ 299 collected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52044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B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test files  ·  0 failures  ·  ~60s runtime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BB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dedicated 15-test automated remediation suite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4480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-m pytest tests/ -q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4892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E8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299 passed in 60.52s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20116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242316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JWT tenant claims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Direct, nested, multi-ID, variable and fragment BOLA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engine, multi-tenant ABAC, risk scoring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logging, dashboards, and live events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Schema-aware ownership inference singleton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graph and taint propagation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anomaly detection (9 dedicated tests)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research engine (13 dedicated tests)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remediation verification (15 dedicated tests)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Shield — CCNS Capstone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&amp; DEFENSE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Automated Technical Remediations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HTTP Gateway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480560" y="192024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B executes over real HTTP POST to /graphql; direct policy kept as explicit baseline.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6974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3464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788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Mutation Execution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80560" y="27889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mutation execution verifies 403 denial with bitwise SQLite state preservation (zero tamper).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70332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6576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Disentanglement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480560" y="365760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binary detection (TP/FP) from exact canonical AST path and object attribution.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4348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57200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572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4526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Header Anti-Spoof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480560" y="452628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tenant is authoritative; X-Tenant-Id mismatch rejected (403 TENANT_HEADER_MISMATCH).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3035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544068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440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63040" y="5394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Precision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480560" y="53949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McNemar test uses scientific notation (p &lt; 10^-4); production write endpoints admin-guarded.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 in under 7 seconds: python scripts/verify_audit_remediation.py -&gt; 15/15 PASS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Shield — CCNS Capstone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proposed extensions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inference is pattern-based; polymorphic ownership requires explicit rules.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Object-level gateway; does not rewrite queries into partial null fields.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lookup hits SQLite (mitigated by in-memory TTL cache).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results reflect our evaluated corpus under defined configurations.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baseline requires at least 2 active principals.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20116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extensions (future work)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51460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traversal detection: sequential ID distance + velocity bursts.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selective masking: nullify unauthorized fields safely.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policy synthesis: export Cedar / Rego OPA policies.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introspection filtering: hide unauthenticated schema types.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Redis-backed distributed ownership cache for multi-instance gateway.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Shield — CCNS Capstone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Centralized, measurable, defensible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6324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1488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30175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 attempts blocked over live gateway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9202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6324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21488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566160" y="30175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 on benign owner traffic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6324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21488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355080" y="30175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canonical AST path attribution (100% semantic)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06840" y="19202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6324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0" y="21488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299/299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30175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 (0 failures)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43484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Shield demonstrates that combining schema-aware static analysis with runtime authorization evidence provides both strict pre-resolver protection and traceable path attribution — verified across live HTTP execution, genuine mutation safety, multi-tenant anti-spoofing, and 299 automated tests.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Shield — CCNS Capstone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GraphQL Shield — Defensible Security Gateway</dc:title>
  <dc:subject>PptxGenJS Presentation</dc:subject>
  <dc:creator>GraphQL Shield Team</dc:creator>
  <cp:lastModifiedBy>GraphQL Shield Team</cp:lastModifiedBy>
  <cp:revision>1</cp:revision>
  <dcterms:created xsi:type="dcterms:W3CDTF">2026-10-15T18:24:55Z</dcterms:created>
  <dcterms:modified xsi:type="dcterms:W3CDTF">2026-10-15T18:24:55Z</dcterms:modified>
</cp:coreProperties>
</file>